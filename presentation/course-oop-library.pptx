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47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475488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24739B"/>
                </a:solidFill>
                <a:latin typeface="Arial"/>
              </a:rPr>
              <a:t>КУРСОВОЙ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10698480" cy="1417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4400" b="1">
                <a:solidFill>
                  <a:srgbClr val="17324D"/>
                </a:solidFill>
                <a:latin typeface="Arial"/>
              </a:rPr>
              <a:t>Объектно-ориентированная библиотечная система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246120"/>
            <a:ext cx="1019556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0">
                <a:solidFill>
                  <a:srgbClr val="476275"/>
                </a:solidFill>
                <a:latin typeface="Arial"/>
              </a:rPr>
              <a:t>Курсовой проект · Room-backed SQLite · Compose Desktop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639312"/>
            <a:ext cx="1019556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0">
                <a:solidFill>
                  <a:srgbClr val="476275"/>
                </a:solidFill>
                <a:latin typeface="Arial"/>
              </a:rPr>
              <a:t>В. Д. Панков · группа М412 ·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5074920"/>
            <a:ext cx="4709160" cy="749808"/>
          </a:xfrm>
          <a:prstGeom prst="roundRect">
            <a:avLst/>
          </a:prstGeom>
          <a:solidFill>
            <a:srgbClr val="E9F4FB"/>
          </a:solidFill>
          <a:ln w="15240">
            <a:solidFill>
              <a:srgbClr val="247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84648"/>
            <a:ext cx="438912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7324D"/>
                </a:solidFill>
                <a:latin typeface="Arial"/>
              </a:rPr>
              <a:t>Room-backed SQLite · Compose Desktop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5230368"/>
            <a:ext cx="2743200" cy="420624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3000" b="1">
                <a:solidFill>
                  <a:srgbClr val="24739B"/>
                </a:solidFill>
                <a:latin typeface="Arial"/>
              </a:rPr>
              <a:t>Защита проекта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0116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Arial"/>
              </a:rPr>
              <a:t>Проблема и цель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832104"/>
            <a:ext cx="11155680" cy="22860"/>
          </a:xfrm>
          <a:prstGeom prst="rect">
            <a:avLst/>
          </a:prstGeom>
          <a:solidFill>
            <a:srgbClr val="B6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98448"/>
            <a:ext cx="5349240" cy="1417320"/>
          </a:xfrm>
          <a:prstGeom prst="roundRect">
            <a:avLst/>
          </a:prstGeom>
          <a:solidFill>
            <a:srgbClr val="FFF0EF"/>
          </a:solidFill>
          <a:ln w="15240">
            <a:solidFill>
              <a:srgbClr val="B8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89888"/>
            <a:ext cx="5020055" cy="12344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17324D"/>
                </a:solidFill>
                <a:latin typeface="Arial"/>
              </a:rPr>
              <a:t>Проблема</a:t>
            </a:r>
          </a:p>
          <a:p>
            <a:pPr>
              <a:spcBef>
                <a:spcPts val="0"/>
              </a:spcBef>
            </a:pPr>
            <a:r>
              <a:rPr sz="2800">
                <a:solidFill>
                  <a:srgbClr val="172A3A"/>
                </a:solidFill>
                <a:latin typeface="Arial"/>
              </a:rPr>
              <a:t>Библиотечные сущности, выдачи и правила должны работать как единая предметная модель.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298448"/>
            <a:ext cx="5349240" cy="1417320"/>
          </a:xfrm>
          <a:prstGeom prst="roundRect">
            <a:avLst/>
          </a:prstGeom>
          <a:solidFill>
            <a:srgbClr val="E9F4FB"/>
          </a:solidFill>
          <a:ln w="15240">
            <a:solidFill>
              <a:srgbClr val="247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64224" y="1389888"/>
            <a:ext cx="5020055" cy="12344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17324D"/>
                </a:solidFill>
                <a:latin typeface="Arial"/>
              </a:rPr>
              <a:t>Цель</a:t>
            </a:r>
          </a:p>
          <a:p>
            <a:pPr>
              <a:spcBef>
                <a:spcPts val="0"/>
              </a:spcBef>
            </a:pPr>
            <a:r>
              <a:rPr sz="2800">
                <a:solidFill>
                  <a:srgbClr val="172A3A"/>
                </a:solidFill>
                <a:latin typeface="Arial"/>
              </a:rPr>
              <a:t>Создать настольное приложение с постоянным хранением, связями M:N и проверяемыми сценариями.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090672"/>
            <a:ext cx="10890504" cy="1353312"/>
          </a:xfrm>
          <a:prstGeom prst="roundRect">
            <a:avLst/>
          </a:prstGeom>
          <a:solidFill>
            <a:srgbClr val="F0EDFA"/>
          </a:solidFill>
          <a:ln w="15240">
            <a:solidFill>
              <a:srgbClr val="73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3182112"/>
            <a:ext cx="10561320" cy="1170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17324D"/>
                </a:solidFill>
                <a:latin typeface="Arial"/>
              </a:rPr>
              <a:t>Фокус</a:t>
            </a:r>
          </a:p>
          <a:p>
            <a:pPr>
              <a:spcBef>
                <a:spcPts val="0"/>
              </a:spcBef>
            </a:pPr>
            <a:r>
              <a:rPr sz="2800">
                <a:solidFill>
                  <a:srgbClr val="172A3A"/>
                </a:solidFill>
                <a:latin typeface="Arial"/>
              </a:rPr>
              <a:t>ООП-иерархия · Room 3 · атомарные операции · реактивный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138928"/>
            <a:ext cx="106984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3000" b="1">
                <a:solidFill>
                  <a:srgbClr val="17324D"/>
                </a:solidFill>
                <a:latin typeface="Arial"/>
              </a:rPr>
              <a:t>Предметная область → доменная модель → сохранение → пользовательский сценарий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0116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Arial"/>
              </a:rPr>
              <a:t>Требования и ограничения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832104"/>
            <a:ext cx="11155680" cy="22860"/>
          </a:xfrm>
          <a:prstGeom prst="rect">
            <a:avLst/>
          </a:prstGeom>
          <a:solidFill>
            <a:srgbClr val="B6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25296"/>
            <a:ext cx="5285232" cy="1115568"/>
          </a:xfrm>
          <a:prstGeom prst="roundRect">
            <a:avLst/>
          </a:prstGeom>
          <a:solidFill>
            <a:srgbClr val="E9F4FB"/>
          </a:solidFill>
          <a:ln w="15240">
            <a:solidFill>
              <a:srgbClr val="247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9304"/>
            <a:ext cx="4956048" cy="9875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72A3A"/>
                </a:solidFill>
                <a:latin typeface="Arial"/>
              </a:rPr>
              <a:t>1.  Иерархия сущностей: LibraryEntity, Person, Publication и конкретные типы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225296"/>
            <a:ext cx="5285232" cy="1115568"/>
          </a:xfrm>
          <a:prstGeom prst="roundRect">
            <a:avLst/>
          </a:prstGeom>
          <a:solidFill>
            <a:srgbClr val="FFF5DF"/>
          </a:solidFill>
          <a:ln w="15240">
            <a:solidFill>
              <a:srgbClr val="B8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37376" y="1289304"/>
            <a:ext cx="4956048" cy="9875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0">
                <a:solidFill>
                  <a:srgbClr val="172A3A"/>
                </a:solidFill>
                <a:latin typeface="Arial"/>
              </a:rPr>
              <a:t>2.  Связь Reader ↔ Publication через ассоциативную сущность Loan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70048"/>
            <a:ext cx="5285232" cy="1115568"/>
          </a:xfrm>
          <a:prstGeom prst="roundRect">
            <a:avLst/>
          </a:prstGeom>
          <a:solidFill>
            <a:srgbClr val="EDF8F2"/>
          </a:solidFill>
          <a:ln w="15240">
            <a:solidFill>
              <a:srgbClr val="328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734056"/>
            <a:ext cx="4956048" cy="9875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0">
                <a:solidFill>
                  <a:srgbClr val="172A3A"/>
                </a:solidFill>
                <a:latin typeface="Arial"/>
              </a:rPr>
              <a:t>3.  Room 3 + SQLite: запись, закрытие и повторное открытие базы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2670048"/>
            <a:ext cx="5285232" cy="1115568"/>
          </a:xfrm>
          <a:prstGeom prst="roundRect">
            <a:avLst/>
          </a:prstGeom>
          <a:solidFill>
            <a:srgbClr val="F0EDFA"/>
          </a:solidFill>
          <a:ln w="15240">
            <a:solidFill>
              <a:srgbClr val="73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2734056"/>
            <a:ext cx="4956048" cy="9875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0">
                <a:solidFill>
                  <a:srgbClr val="172A3A"/>
                </a:solidFill>
                <a:latin typeface="Arial"/>
              </a:rPr>
              <a:t>4.  Только Desktop JVM и Compose UI; технические ID скрыты от пользователя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14800"/>
            <a:ext cx="10917936" cy="1115568"/>
          </a:xfrm>
          <a:prstGeom prst="roundRect">
            <a:avLst/>
          </a:prstGeom>
          <a:solidFill>
            <a:srgbClr val="FFF0EF"/>
          </a:solidFill>
          <a:ln w="15240">
            <a:solidFill>
              <a:srgbClr val="B8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4178808"/>
            <a:ext cx="10588752" cy="9875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0">
                <a:solidFill>
                  <a:srgbClr val="172A3A"/>
                </a:solidFill>
                <a:latin typeface="Arial"/>
              </a:rPr>
              <a:t>5.  Семь паттернов, диаграммы и JVM-тесты как доказательства реализации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0116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Arial"/>
              </a:rPr>
              <a:t>Доменная модель и иерархия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832104"/>
            <a:ext cx="11155680" cy="22860"/>
          </a:xfrm>
          <a:prstGeom prst="rect">
            <a:avLst/>
          </a:prstGeom>
          <a:solidFill>
            <a:srgbClr val="B6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oop_ent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42415"/>
            <a:ext cx="11420856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0116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Arial"/>
              </a:rPr>
              <a:t>Реляционная модель Room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832104"/>
            <a:ext cx="11155680" cy="22860"/>
          </a:xfrm>
          <a:prstGeom prst="rect">
            <a:avLst/>
          </a:prstGeom>
          <a:solidFill>
            <a:srgbClr val="B6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room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42415"/>
            <a:ext cx="11420856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0116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Arial"/>
              </a:rPr>
              <a:t>Архитектура приложения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832104"/>
            <a:ext cx="11155680" cy="22860"/>
          </a:xfrm>
          <a:prstGeom prst="rect">
            <a:avLst/>
          </a:prstGeom>
          <a:solidFill>
            <a:srgbClr val="B6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architecture_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42415"/>
            <a:ext cx="11420856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0116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Arial"/>
              </a:rPr>
              <a:t>Паттерны: роли в системе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832104"/>
            <a:ext cx="11155680" cy="22860"/>
          </a:xfrm>
          <a:prstGeom prst="rect">
            <a:avLst/>
          </a:prstGeom>
          <a:solidFill>
            <a:srgbClr val="B6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285232" cy="1005840"/>
          </a:xfrm>
          <a:prstGeom prst="roundRect">
            <a:avLst/>
          </a:prstGeom>
          <a:solidFill>
            <a:srgbClr val="E9F4FB"/>
          </a:solidFill>
          <a:ln w="15240">
            <a:solidFill>
              <a:srgbClr val="247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280160"/>
            <a:ext cx="4956048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17324D"/>
                </a:solidFill>
                <a:latin typeface="Arial"/>
              </a:rPr>
              <a:t>Repository</a:t>
            </a:r>
          </a:p>
          <a:p>
            <a:pPr>
              <a:spcBef>
                <a:spcPts val="0"/>
              </a:spcBef>
            </a:pPr>
            <a:r>
              <a:rPr sz="2800">
                <a:solidFill>
                  <a:srgbClr val="172A3A"/>
                </a:solidFill>
                <a:latin typeface="Arial"/>
              </a:rPr>
              <a:t>доменный контракт доступа к данным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188720"/>
            <a:ext cx="5285232" cy="1005840"/>
          </a:xfrm>
          <a:prstGeom prst="roundRect">
            <a:avLst/>
          </a:prstGeom>
          <a:solidFill>
            <a:srgbClr val="F0EDFA"/>
          </a:solidFill>
          <a:ln w="15240">
            <a:solidFill>
              <a:srgbClr val="73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37376" y="1280160"/>
            <a:ext cx="4956048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17324D"/>
                </a:solidFill>
                <a:latin typeface="Arial"/>
              </a:rPr>
              <a:t>MVVM</a:t>
            </a:r>
          </a:p>
          <a:p>
            <a:pPr>
              <a:spcBef>
                <a:spcPts val="0"/>
              </a:spcBef>
            </a:pPr>
            <a:r>
              <a:rPr sz="2800">
                <a:solidFill>
                  <a:srgbClr val="172A3A"/>
                </a:solidFill>
                <a:latin typeface="Arial"/>
              </a:rPr>
              <a:t>экран, состояние и события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5285232" cy="1005840"/>
          </a:xfrm>
          <a:prstGeom prst="roundRect">
            <a:avLst/>
          </a:prstGeom>
          <a:solidFill>
            <a:srgbClr val="FFF5DF"/>
          </a:solidFill>
          <a:ln w="15240">
            <a:solidFill>
              <a:srgbClr val="B8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560320"/>
            <a:ext cx="4956048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17324D"/>
                </a:solidFill>
                <a:latin typeface="Arial"/>
              </a:rPr>
              <a:t>Strategy</a:t>
            </a:r>
          </a:p>
          <a:p>
            <a:pPr>
              <a:spcBef>
                <a:spcPts val="0"/>
              </a:spcBef>
            </a:pPr>
            <a:r>
              <a:rPr sz="2800">
                <a:solidFill>
                  <a:srgbClr val="172A3A"/>
                </a:solidFill>
                <a:latin typeface="Arial"/>
              </a:rPr>
              <a:t>LoanPolicy меняет правила выдачи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2468880"/>
            <a:ext cx="5285232" cy="1005840"/>
          </a:xfrm>
          <a:prstGeom prst="roundRect">
            <a:avLst/>
          </a:prstGeom>
          <a:solidFill>
            <a:srgbClr val="EDF8F2"/>
          </a:solidFill>
          <a:ln w="15240">
            <a:solidFill>
              <a:srgbClr val="328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2560320"/>
            <a:ext cx="4956048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17324D"/>
                </a:solidFill>
                <a:latin typeface="Arial"/>
              </a:rPr>
              <a:t>Factory</a:t>
            </a:r>
          </a:p>
          <a:p>
            <a:pPr>
              <a:spcBef>
                <a:spcPts val="0"/>
              </a:spcBef>
            </a:pPr>
            <a:r>
              <a:rPr sz="2800">
                <a:solidFill>
                  <a:srgbClr val="172A3A"/>
                </a:solidFill>
                <a:latin typeface="Arial"/>
              </a:rPr>
              <a:t>единое создание валидных сущностей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49039"/>
            <a:ext cx="5285232" cy="1005840"/>
          </a:xfrm>
          <a:prstGeom prst="roundRect">
            <a:avLst/>
          </a:prstGeom>
          <a:solidFill>
            <a:srgbClr val="E9F4FB"/>
          </a:solidFill>
          <a:ln w="15240">
            <a:solidFill>
              <a:srgbClr val="247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840479"/>
            <a:ext cx="4956048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17324D"/>
                </a:solidFill>
                <a:latin typeface="Arial"/>
              </a:rPr>
              <a:t>Observer</a:t>
            </a:r>
          </a:p>
          <a:p>
            <a:pPr>
              <a:spcBef>
                <a:spcPts val="0"/>
              </a:spcBef>
            </a:pPr>
            <a:r>
              <a:rPr sz="2800">
                <a:solidFill>
                  <a:srgbClr val="172A3A"/>
                </a:solidFill>
                <a:latin typeface="Arial"/>
              </a:rPr>
              <a:t>Flow → StateFlow → Compose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3749039"/>
            <a:ext cx="5285232" cy="1005840"/>
          </a:xfrm>
          <a:prstGeom prst="roundRect">
            <a:avLst/>
          </a:prstGeom>
          <a:solidFill>
            <a:srgbClr val="FFF0EF"/>
          </a:solidFill>
          <a:ln w="15240">
            <a:solidFill>
              <a:srgbClr val="B8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3840479"/>
            <a:ext cx="4956048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17324D"/>
                </a:solidFill>
                <a:latin typeface="Arial"/>
              </a:rPr>
              <a:t>State</a:t>
            </a:r>
          </a:p>
          <a:p>
            <a:pPr>
              <a:spcBef>
                <a:spcPts val="0"/>
              </a:spcBef>
            </a:pPr>
            <a:r>
              <a:rPr sz="2800">
                <a:solidFill>
                  <a:srgbClr val="172A3A"/>
                </a:solidFill>
                <a:latin typeface="Arial"/>
              </a:rPr>
              <a:t>Active → Overdue → Returned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5285232" cy="1005840"/>
          </a:xfrm>
          <a:prstGeom prst="roundRect">
            <a:avLst/>
          </a:prstGeom>
          <a:solidFill>
            <a:srgbClr val="F0EDFA"/>
          </a:solidFill>
          <a:ln w="15240">
            <a:solidFill>
              <a:srgbClr val="73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5120640"/>
            <a:ext cx="4956048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17324D"/>
                </a:solidFill>
                <a:latin typeface="Arial"/>
              </a:rPr>
              <a:t>Facade</a:t>
            </a:r>
          </a:p>
          <a:p>
            <a:pPr>
              <a:spcBef>
                <a:spcPts val="0"/>
              </a:spcBef>
            </a:pPr>
            <a:r>
              <a:rPr sz="2800">
                <a:solidFill>
                  <a:srgbClr val="172A3A"/>
                </a:solidFill>
                <a:latin typeface="Arial"/>
              </a:rPr>
              <a:t>RoomLibraryService скрывает координацию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0116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Arial"/>
              </a:rPr>
              <a:t>Паттерны границ: Repository и Facade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832104"/>
            <a:ext cx="11155680" cy="22860"/>
          </a:xfrm>
          <a:prstGeom prst="rect">
            <a:avLst/>
          </a:prstGeom>
          <a:solidFill>
            <a:srgbClr val="B6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pattern_reposi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097280"/>
            <a:ext cx="5596128" cy="3145536"/>
          </a:xfrm>
          <a:prstGeom prst="rect">
            <a:avLst/>
          </a:prstGeom>
        </p:spPr>
      </p:pic>
      <p:pic>
        <p:nvPicPr>
          <p:cNvPr id="5" name="Picture 4" descr="pattern_fac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097280"/>
            <a:ext cx="5596128" cy="31455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" y="4590288"/>
            <a:ext cx="10771632" cy="1005840"/>
          </a:xfrm>
          <a:prstGeom prst="roundRect">
            <a:avLst/>
          </a:prstGeom>
          <a:solidFill>
            <a:srgbClr val="E9F4FB"/>
          </a:solidFill>
          <a:ln w="15240">
            <a:solidFill>
              <a:srgbClr val="247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27448"/>
            <a:ext cx="1036929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800" b="1">
                <a:solidFill>
                  <a:srgbClr val="17324D"/>
                </a:solidFill>
                <a:latin typeface="Arial"/>
              </a:rPr>
              <a:t>Домен видит интерфейсы; Room-адаптеры и транзакции остаются за границей.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0116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Arial"/>
              </a:rPr>
              <a:t>Паттерны UI: MVVM и Observer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832104"/>
            <a:ext cx="11155680" cy="22860"/>
          </a:xfrm>
          <a:prstGeom prst="rect">
            <a:avLst/>
          </a:prstGeom>
          <a:solidFill>
            <a:srgbClr val="B6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pattern_mv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097280"/>
            <a:ext cx="5596128" cy="3145536"/>
          </a:xfrm>
          <a:prstGeom prst="rect">
            <a:avLst/>
          </a:prstGeom>
        </p:spPr>
      </p:pic>
      <p:pic>
        <p:nvPicPr>
          <p:cNvPr id="5" name="Picture 4" descr="pattern_ob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097280"/>
            <a:ext cx="5596128" cy="31455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" y="4590288"/>
            <a:ext cx="10771632" cy="1005840"/>
          </a:xfrm>
          <a:prstGeom prst="roundRect">
            <a:avLst/>
          </a:prstGeom>
          <a:solidFill>
            <a:srgbClr val="E9F4FB"/>
          </a:solidFill>
          <a:ln w="15240">
            <a:solidFill>
              <a:srgbClr val="247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27448"/>
            <a:ext cx="10369296" cy="7132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800" b="1">
                <a:solidFill>
                  <a:srgbClr val="17324D"/>
                </a:solidFill>
                <a:latin typeface="Arial"/>
              </a:rPr>
              <a:t>DAO Flow преобразуется в StateFlow; Compose наблюдает состояние и отправляет намерения.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0116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Arial"/>
              </a:rPr>
              <a:t>Паттерны домена: Strategy, Factory и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832104"/>
            <a:ext cx="11155680" cy="22860"/>
          </a:xfrm>
          <a:prstGeom prst="rect">
            <a:avLst/>
          </a:prstGeom>
          <a:solidFill>
            <a:srgbClr val="B6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pattern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78992"/>
            <a:ext cx="3767328" cy="5468112"/>
          </a:xfrm>
          <a:prstGeom prst="rect">
            <a:avLst/>
          </a:prstGeom>
        </p:spPr>
      </p:pic>
      <p:pic>
        <p:nvPicPr>
          <p:cNvPr id="5" name="Picture 4" descr="pattern_fa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84" y="1078992"/>
            <a:ext cx="3767328" cy="5468112"/>
          </a:xfrm>
          <a:prstGeom prst="rect">
            <a:avLst/>
          </a:prstGeom>
        </p:spPr>
      </p:pic>
      <p:pic>
        <p:nvPicPr>
          <p:cNvPr id="6" name="Picture 5" descr="pattern_st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1078992"/>
            <a:ext cx="3767328" cy="54681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0116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Arial"/>
              </a:rPr>
              <a:t>Транзакционные сценарии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832104"/>
            <a:ext cx="11155680" cy="22860"/>
          </a:xfrm>
          <a:prstGeom prst="rect">
            <a:avLst/>
          </a:prstGeom>
          <a:solidFill>
            <a:srgbClr val="B6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5216" y="1243584"/>
            <a:ext cx="3401568" cy="3246120"/>
          </a:xfrm>
          <a:prstGeom prst="roundRect">
            <a:avLst/>
          </a:prstGeom>
          <a:solidFill>
            <a:srgbClr val="E9F4FB"/>
          </a:solidFill>
          <a:ln w="15240">
            <a:solidFill>
              <a:srgbClr val="247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35024"/>
            <a:ext cx="3072384" cy="306323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17324D"/>
                </a:solidFill>
                <a:latin typeface="Arial"/>
              </a:rPr>
              <a:t>Выдача</a:t>
            </a:r>
          </a:p>
          <a:p>
            <a:pPr>
              <a:spcBef>
                <a:spcPts val="0"/>
              </a:spcBef>
            </a:pPr>
            <a:r>
              <a:rPr sz="2800">
                <a:solidFill>
                  <a:srgbClr val="172A3A"/>
                </a:solidFill>
                <a:latin typeface="Arial"/>
              </a:rPr>
              <a:t>Проверка → остаток −1 → Loan. Одна транзакция.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9663" y="1243584"/>
            <a:ext cx="3401568" cy="3246120"/>
          </a:xfrm>
          <a:prstGeom prst="roundRect">
            <a:avLst/>
          </a:prstGeom>
          <a:solidFill>
            <a:srgbClr val="EDF8F2"/>
          </a:solidFill>
          <a:ln w="15240">
            <a:solidFill>
              <a:srgbClr val="328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5" y="1335024"/>
            <a:ext cx="3072384" cy="306323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17324D"/>
                </a:solidFill>
                <a:latin typeface="Arial"/>
              </a:rPr>
              <a:t>Возврат</a:t>
            </a:r>
          </a:p>
          <a:p>
            <a:pPr>
              <a:spcBef>
                <a:spcPts val="0"/>
              </a:spcBef>
            </a:pPr>
            <a:r>
              <a:rPr sz="2800">
                <a:solidFill>
                  <a:srgbClr val="172A3A"/>
                </a:solidFill>
                <a:latin typeface="Arial"/>
              </a:rPr>
              <a:t>RETURNED + остаток +1. Повторный вызов безопасен.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54112" y="1243584"/>
            <a:ext cx="3401568" cy="3246120"/>
          </a:xfrm>
          <a:prstGeom prst="roundRect">
            <a:avLst/>
          </a:prstGeom>
          <a:solidFill>
            <a:srgbClr val="FFF5DF"/>
          </a:solidFill>
          <a:ln w="15240">
            <a:solidFill>
              <a:srgbClr val="B8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18704" y="1335024"/>
            <a:ext cx="3072384" cy="306323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17324D"/>
                </a:solidFill>
                <a:latin typeface="Arial"/>
              </a:rPr>
              <a:t>Seed / Clear</a:t>
            </a:r>
          </a:p>
          <a:p>
            <a:pPr>
              <a:spcBef>
                <a:spcPts val="0"/>
              </a:spcBef>
            </a:pPr>
            <a:r>
              <a:rPr sz="2800">
                <a:solidFill>
                  <a:srgbClr val="172A3A"/>
                </a:solidFill>
                <a:latin typeface="Arial"/>
              </a:rPr>
              <a:t>Seed повторяем. Clear all удаляет зависимости и считает строки.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074920"/>
            <a:ext cx="10561320" cy="62179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3000" b="1">
                <a:solidFill>
                  <a:srgbClr val="17324D"/>
                </a:solidFill>
                <a:latin typeface="Arial"/>
              </a:rPr>
              <a:t>Атомарность защищает инвентарь и связи между сущностями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0116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Arial"/>
              </a:rPr>
              <a:t>Пользовательские потоки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832104"/>
            <a:ext cx="11155680" cy="22860"/>
          </a:xfrm>
          <a:prstGeom prst="rect">
            <a:avLst/>
          </a:prstGeom>
          <a:solidFill>
            <a:srgbClr val="B6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61872"/>
            <a:ext cx="5285232" cy="1316736"/>
          </a:xfrm>
          <a:prstGeom prst="roundRect">
            <a:avLst/>
          </a:prstGeom>
          <a:solidFill>
            <a:srgbClr val="E9F4FB"/>
          </a:solidFill>
          <a:ln w="15240">
            <a:solidFill>
              <a:srgbClr val="247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53312"/>
            <a:ext cx="4956048" cy="11338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17324D"/>
                </a:solidFill>
                <a:latin typeface="Arial"/>
              </a:rPr>
              <a:t>Readers</a:t>
            </a:r>
          </a:p>
          <a:p>
            <a:pPr>
              <a:spcBef>
                <a:spcPts val="0"/>
              </a:spcBef>
            </a:pPr>
            <a:r>
              <a:rPr sz="2800">
                <a:solidFill>
                  <a:srgbClr val="172A3A"/>
                </a:solidFill>
                <a:latin typeface="Arial"/>
              </a:rPr>
              <a:t>Поиск → создание → Delete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261872"/>
            <a:ext cx="5285232" cy="1316736"/>
          </a:xfrm>
          <a:prstGeom prst="roundRect">
            <a:avLst/>
          </a:prstGeom>
          <a:solidFill>
            <a:srgbClr val="EDF8F2"/>
          </a:solidFill>
          <a:ln w="15240">
            <a:solidFill>
              <a:srgbClr val="328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37376" y="1353312"/>
            <a:ext cx="4956048" cy="11338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17324D"/>
                </a:solidFill>
                <a:latin typeface="Arial"/>
              </a:rPr>
              <a:t>Publications</a:t>
            </a:r>
          </a:p>
          <a:p>
            <a:pPr>
              <a:spcBef>
                <a:spcPts val="0"/>
              </a:spcBef>
            </a:pPr>
            <a:r>
              <a:rPr sz="2800">
                <a:solidFill>
                  <a:srgbClr val="172A3A"/>
                </a:solidFill>
                <a:latin typeface="Arial"/>
              </a:rPr>
              <a:t>Поиск → Book / Periodical → Delete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07792"/>
            <a:ext cx="5285232" cy="1316736"/>
          </a:xfrm>
          <a:prstGeom prst="roundRect">
            <a:avLst/>
          </a:prstGeom>
          <a:solidFill>
            <a:srgbClr val="FFF5DF"/>
          </a:solidFill>
          <a:ln w="15240">
            <a:solidFill>
              <a:srgbClr val="B8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999232"/>
            <a:ext cx="4956048" cy="11338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17324D"/>
                </a:solidFill>
                <a:latin typeface="Arial"/>
              </a:rPr>
              <a:t>Loans</a:t>
            </a:r>
          </a:p>
          <a:p>
            <a:pPr>
              <a:spcBef>
                <a:spcPts val="0"/>
              </a:spcBef>
            </a:pPr>
            <a:r>
              <a:rPr sz="2800">
                <a:solidFill>
                  <a:srgbClr val="172A3A"/>
                </a:solidFill>
                <a:latin typeface="Arial"/>
              </a:rPr>
              <a:t>Выбор по имени/названию → Issue / Return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2907792"/>
            <a:ext cx="5285232" cy="1316736"/>
          </a:xfrm>
          <a:prstGeom prst="roundRect">
            <a:avLst/>
          </a:prstGeom>
          <a:solidFill>
            <a:srgbClr val="F0EDFA"/>
          </a:solidFill>
          <a:ln w="15240">
            <a:solidFill>
              <a:srgbClr val="73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2999232"/>
            <a:ext cx="4956048" cy="11338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400"/>
              </a:spcAft>
            </a:pPr>
            <a:r>
              <a:rPr sz="3000" b="1">
                <a:solidFill>
                  <a:srgbClr val="17324D"/>
                </a:solidFill>
                <a:latin typeface="Arial"/>
              </a:rPr>
              <a:t>Architecture</a:t>
            </a:r>
          </a:p>
          <a:p>
            <a:pPr>
              <a:spcBef>
                <a:spcPts val="0"/>
              </a:spcBef>
            </a:pPr>
            <a:r>
              <a:rPr sz="2800">
                <a:solidFill>
                  <a:srgbClr val="172A3A"/>
                </a:solidFill>
                <a:latin typeface="Arial"/>
              </a:rPr>
              <a:t>Иерархии + M:N + 7 паттернов → Seed / Clear 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937760"/>
            <a:ext cx="10753344" cy="822960"/>
          </a:xfrm>
          <a:prstGeom prst="roundRect">
            <a:avLst/>
          </a:prstGeom>
          <a:solidFill>
            <a:srgbClr val="FFF0EF"/>
          </a:solidFill>
          <a:ln w="15240">
            <a:solidFill>
              <a:srgbClr val="B8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32720" cy="6400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800" b="1">
                <a:solidFill>
                  <a:srgbClr val="17324D"/>
                </a:solidFill>
                <a:latin typeface="Arial"/>
              </a:rPr>
              <a:t>Пользователь выбирает имена и названия; технические идентификаторы генерируются внутри приложения.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0116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Arial"/>
              </a:rPr>
              <a:t>Тесты и контрольный сценарий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832104"/>
            <a:ext cx="11155680" cy="22860"/>
          </a:xfrm>
          <a:prstGeom prst="rect">
            <a:avLst/>
          </a:prstGeom>
          <a:solidFill>
            <a:srgbClr val="B6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097280"/>
            <a:ext cx="10881360" cy="749808"/>
          </a:xfrm>
          <a:prstGeom prst="roundRect">
            <a:avLst/>
          </a:prstGeom>
          <a:solidFill>
            <a:srgbClr val="EDF8F2"/>
          </a:solidFill>
          <a:ln w="15240">
            <a:solidFill>
              <a:srgbClr val="328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197864"/>
            <a:ext cx="10479024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3600" b="1">
                <a:solidFill>
                  <a:srgbClr val="328366"/>
                </a:solidFill>
                <a:latin typeface="Arial"/>
              </a:rPr>
              <a:t>17 тестов · 0 ошибок · 0 пропусков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39112"/>
            <a:ext cx="6656832" cy="438912"/>
          </a:xfrm>
          <a:prstGeom prst="rect">
            <a:avLst/>
          </a:prstGeom>
          <a:solidFill>
            <a:srgbClr val="E9F4FB"/>
          </a:solidFill>
          <a:ln w="15240">
            <a:solidFill>
              <a:srgbClr val="247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63093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72A3A"/>
                </a:solidFill>
                <a:latin typeface="Arial"/>
              </a:rPr>
              <a:t>core  ·  Domain  ·  4  ·  PASS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60320"/>
            <a:ext cx="6656832" cy="438912"/>
          </a:xfrm>
          <a:prstGeom prst="rect">
            <a:avLst/>
          </a:prstGeom>
          <a:solidFill>
            <a:srgbClr val="F8FAFC"/>
          </a:solidFill>
          <a:ln w="15240">
            <a:solidFill>
              <a:srgbClr val="B6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78608"/>
            <a:ext cx="63093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72A3A"/>
                </a:solidFill>
                <a:latin typeface="Arial"/>
              </a:rPr>
              <a:t>core  ·  Persistence  ·  4  ·  PASS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081528"/>
            <a:ext cx="6656832" cy="438912"/>
          </a:xfrm>
          <a:prstGeom prst="rect">
            <a:avLst/>
          </a:prstGeom>
          <a:solidFill>
            <a:srgbClr val="E9F4FB"/>
          </a:solidFill>
          <a:ln w="15240">
            <a:solidFill>
              <a:srgbClr val="247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99816"/>
            <a:ext cx="63093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72A3A"/>
                </a:solidFill>
                <a:latin typeface="Arial"/>
              </a:rPr>
              <a:t>core  ·  M:N + control  ·  2  ·  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602736"/>
            <a:ext cx="6656832" cy="438912"/>
          </a:xfrm>
          <a:prstGeom prst="rect">
            <a:avLst/>
          </a:prstGeom>
          <a:solidFill>
            <a:srgbClr val="F8FAFC"/>
          </a:solidFill>
          <a:ln w="15240">
            <a:solidFill>
              <a:srgbClr val="B6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21024"/>
            <a:ext cx="63093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72A3A"/>
                </a:solidFill>
                <a:latin typeface="Arial"/>
              </a:rPr>
              <a:t>core  ·  Admin  ·  2  ·  PASS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123944"/>
            <a:ext cx="6656832" cy="438912"/>
          </a:xfrm>
          <a:prstGeom prst="rect">
            <a:avLst/>
          </a:prstGeom>
          <a:solidFill>
            <a:srgbClr val="E9F4FB"/>
          </a:solidFill>
          <a:ln w="15240">
            <a:solidFill>
              <a:srgbClr val="247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42231"/>
            <a:ext cx="63093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72A3A"/>
                </a:solidFill>
                <a:latin typeface="Arial"/>
              </a:rPr>
              <a:t>app  ·  Validation  ·  1  ·  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645152"/>
            <a:ext cx="6656832" cy="438912"/>
          </a:xfrm>
          <a:prstGeom prst="rect">
            <a:avLst/>
          </a:prstGeom>
          <a:solidFill>
            <a:srgbClr val="F8FAFC"/>
          </a:solidFill>
          <a:ln w="15240">
            <a:solidFill>
              <a:srgbClr val="B6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663440"/>
            <a:ext cx="63093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72A3A"/>
                </a:solidFill>
                <a:latin typeface="Arial"/>
              </a:rPr>
              <a:t>app  ·  UI operations  ·  4  ·  PASS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2039112"/>
            <a:ext cx="4005072" cy="3108960"/>
          </a:xfrm>
          <a:prstGeom prst="roundRect">
            <a:avLst/>
          </a:prstGeom>
          <a:solidFill>
            <a:srgbClr val="FFF5DF"/>
          </a:solidFill>
          <a:ln w="15240">
            <a:solidFill>
              <a:srgbClr val="B8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2286000"/>
            <a:ext cx="3511296" cy="2560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800" b="1">
                <a:solidFill>
                  <a:srgbClr val="172A3A"/>
                </a:solidFill>
                <a:latin typeface="Arial"/>
              </a:rPr>
              <a:t>Контроль: seed repeat-safe; clear all атомарен; инвентарь согласован.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5577840"/>
            <a:ext cx="649224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0">
                <a:solidFill>
                  <a:srgbClr val="476275"/>
                </a:solidFill>
                <a:latin typeface="Arial"/>
              </a:rPr>
              <a:t>Источник: clean test build и JUnit XML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01168"/>
            <a:ext cx="11155680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600" b="1">
                <a:solidFill>
                  <a:srgbClr val="17324D"/>
                </a:solidFill>
                <a:latin typeface="Arial"/>
              </a:rPr>
              <a:t>Итог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832104"/>
            <a:ext cx="11155680" cy="22860"/>
          </a:xfrm>
          <a:prstGeom prst="rect">
            <a:avLst/>
          </a:prstGeom>
          <a:solidFill>
            <a:srgbClr val="B6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1225296"/>
            <a:ext cx="10771632" cy="694944"/>
          </a:xfrm>
          <a:prstGeom prst="roundRect">
            <a:avLst/>
          </a:prstGeom>
          <a:solidFill>
            <a:srgbClr val="E9F4FB"/>
          </a:solidFill>
          <a:ln w="15240">
            <a:solidFill>
              <a:srgbClr val="247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280160"/>
            <a:ext cx="1033272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0">
                <a:solidFill>
                  <a:srgbClr val="172A3A"/>
                </a:solidFill>
                <a:latin typeface="Arial"/>
              </a:rPr>
              <a:t>✓  Room/SQLite сохраняет сущности, связи и выдачи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103120"/>
            <a:ext cx="10771632" cy="694944"/>
          </a:xfrm>
          <a:prstGeom prst="roundRect">
            <a:avLst/>
          </a:prstGeom>
          <a:solidFill>
            <a:srgbClr val="EDF8F2"/>
          </a:solidFill>
          <a:ln w="15240">
            <a:solidFill>
              <a:srgbClr val="328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57984"/>
            <a:ext cx="1033272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0">
                <a:solidFill>
                  <a:srgbClr val="172A3A"/>
                </a:solidFill>
                <a:latin typeface="Arial"/>
              </a:rPr>
              <a:t>✓  Repository отделяет домен от Room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980944"/>
            <a:ext cx="10771632" cy="694944"/>
          </a:xfrm>
          <a:prstGeom prst="roundRect">
            <a:avLst/>
          </a:prstGeom>
          <a:solidFill>
            <a:srgbClr val="E9F4FB"/>
          </a:solidFill>
          <a:ln w="15240">
            <a:solidFill>
              <a:srgbClr val="247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035808"/>
            <a:ext cx="1033272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0">
                <a:solidFill>
                  <a:srgbClr val="172A3A"/>
                </a:solidFill>
                <a:latin typeface="Arial"/>
              </a:rPr>
              <a:t>✓  Семь паттернов участвуют в production-сценариях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858768"/>
            <a:ext cx="10771632" cy="694944"/>
          </a:xfrm>
          <a:prstGeom prst="roundRect">
            <a:avLst/>
          </a:prstGeom>
          <a:solidFill>
            <a:srgbClr val="EDF8F2"/>
          </a:solidFill>
          <a:ln w="15240">
            <a:solidFill>
              <a:srgbClr val="328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913631"/>
            <a:ext cx="1033272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0">
                <a:solidFill>
                  <a:srgbClr val="172A3A"/>
                </a:solidFill>
                <a:latin typeface="Arial"/>
              </a:rPr>
              <a:t>✓  Compose: поиск, удаление, выдача и администрирование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736592"/>
            <a:ext cx="10771632" cy="694944"/>
          </a:xfrm>
          <a:prstGeom prst="roundRect">
            <a:avLst/>
          </a:prstGeom>
          <a:solidFill>
            <a:srgbClr val="E9F4FB"/>
          </a:solidFill>
          <a:ln w="15240">
            <a:solidFill>
              <a:srgbClr val="247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791455"/>
            <a:ext cx="1033272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72A3A"/>
                </a:solidFill>
                <a:latin typeface="Arial"/>
              </a:rPr>
              <a:t>✓  Итог: проверяемая ООП-архитектура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97296"/>
            <a:ext cx="10716768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3400" b="1">
                <a:solidFill>
                  <a:srgbClr val="17324D"/>
                </a:solidFill>
                <a:latin typeface="Arial"/>
              </a:rPr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